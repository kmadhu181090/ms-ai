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1c23592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1c23592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1c23592a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1c23592a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1c23592a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1c23592a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1c23592a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1c23592a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1c23592a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1c23592a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1e3e8cfd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1e3e8cfd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1e3e8cfde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1e3e8cfde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1e3e8cfde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1e3e8cfde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1c23592a7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1c23592a7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1e3e8cf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1e3e8cf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1e3e8cfd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1e3e8cf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1e3e8cfd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1e3e8cfd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1e3e8cfd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1e3e8cfd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1e3e8cfd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1e3e8cfd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1e3e8cfd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1e3e8cfd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1e3e8cfd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1e3e8cfd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1e3e8cfd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1e3e8cfd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1e3e8cfd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1e3e8cfd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1e3e8cfd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1e3e8cfd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1e3e8cfd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1e3e8cfd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1e3e8cfd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1e3e8cfd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1e3e8cfd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1e3e8cfd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1e3e8cfd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1e3e8cfd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1e3e8cfde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1e3e8cfde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1e3e8cfde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1e3e8cfde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1e3e8cfd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1e3e8cfd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bc46156db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bc46156db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1e3e8cfde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1e3e8cfde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1e3e8cfde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1e3e8cfde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c46156db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bc46156db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1e3e8cfd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1e3e8cfd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github.com/kmadhu181090/MS-AI/tree/main/Pathway%20Machine%20Learning%3A%20Theory%20%26%20Hands-On%20Practice%20with%20Python%20Specialization/CSCA%205622%3A%20Introduction%20to%20Machine%20Learning%3A%20Supervised%20Learning%20/Module%207%20-%20Final%20Projec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CSCA 5622                   Introduction to Machine Learning:Supervised Learning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Default of Credit Card Clients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Purpose</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purpose of Default of Credit Card Client kaggle project is to build a supervised Machine learning model that predicts whether a credit card client will default on their payment in the next month.</a:t>
            </a:r>
            <a:endParaRPr/>
          </a:p>
          <a:p>
            <a:pPr indent="-342900" lvl="0" marL="457200" rtl="0" algn="l">
              <a:spcBef>
                <a:spcPts val="0"/>
              </a:spcBef>
              <a:spcAft>
                <a:spcPts val="0"/>
              </a:spcAft>
              <a:buSzPts val="1800"/>
              <a:buChar char="●"/>
            </a:pPr>
            <a:r>
              <a:rPr lang="en"/>
              <a:t>This is a binary classification </a:t>
            </a:r>
            <a:r>
              <a:rPr lang="en"/>
              <a:t>problem based on real world financial and demographic data from clients in Taiwan, collected between April and Sept 2005.</a:t>
            </a:r>
            <a:endParaRPr/>
          </a:p>
          <a:p>
            <a:pPr indent="-342900" lvl="0" marL="457200" rtl="0" algn="l">
              <a:spcBef>
                <a:spcPts val="0"/>
              </a:spcBef>
              <a:spcAft>
                <a:spcPts val="0"/>
              </a:spcAft>
              <a:buSzPts val="1800"/>
              <a:buChar char="●"/>
            </a:pPr>
            <a:r>
              <a:rPr lang="en"/>
              <a:t>Multiple algorithms like Logistic Regression,Random Forest Classifier,XGBoost and SVC were trained and evaluated.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Source Citation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40"/>
              <a:buNone/>
            </a:pPr>
            <a:r>
              <a:rPr b="1" lang="en" sz="1700"/>
              <a:t>1.UCI Machine Learning Repository:</a:t>
            </a:r>
            <a:endParaRPr b="1" sz="1700"/>
          </a:p>
          <a:p>
            <a:pPr indent="0" lvl="0" marL="0" rtl="0" algn="l">
              <a:spcBef>
                <a:spcPts val="1200"/>
              </a:spcBef>
              <a:spcAft>
                <a:spcPts val="0"/>
              </a:spcAft>
              <a:buSzPts val="440"/>
              <a:buNone/>
            </a:pPr>
            <a:r>
              <a:rPr lang="en" sz="1700"/>
              <a:t>Yeh, I. (2009). Default of Credit Card Clients [Dataset]. UCI Machine Learning Repository. https://doi.org/10.24432/C55S3H.</a:t>
            </a:r>
            <a:endParaRPr sz="1700"/>
          </a:p>
          <a:p>
            <a:pPr indent="0" lvl="0" marL="0" rtl="0" algn="l">
              <a:spcBef>
                <a:spcPts val="1200"/>
              </a:spcBef>
              <a:spcAft>
                <a:spcPts val="0"/>
              </a:spcAft>
              <a:buSzPts val="440"/>
              <a:buNone/>
            </a:pPr>
            <a:r>
              <a:rPr b="1" lang="en" sz="1700"/>
              <a:t>2.Kaggle Platform:</a:t>
            </a:r>
            <a:endParaRPr b="1" sz="1700"/>
          </a:p>
          <a:p>
            <a:pPr indent="0" lvl="0" marL="0" rtl="0" algn="l">
              <a:spcBef>
                <a:spcPts val="1200"/>
              </a:spcBef>
              <a:spcAft>
                <a:spcPts val="0"/>
              </a:spcAft>
              <a:buSzPts val="440"/>
              <a:buNone/>
            </a:pPr>
            <a:r>
              <a:rPr lang="en" sz="1700"/>
              <a:t>The dataset was accessed from the Kaggle platform:</a:t>
            </a:r>
            <a:endParaRPr sz="1700"/>
          </a:p>
          <a:p>
            <a:pPr indent="0" lvl="0" marL="0" rtl="0" algn="l">
              <a:spcBef>
                <a:spcPts val="1200"/>
              </a:spcBef>
              <a:spcAft>
                <a:spcPts val="0"/>
              </a:spcAft>
              <a:buSzPts val="440"/>
              <a:buNone/>
            </a:pPr>
            <a:r>
              <a:rPr lang="en" sz="1700"/>
              <a:t>Default of Credit Card Clients Dataset. (n.d.). Www.kaggle.com. https://www.kaggle.com/datasets/uciml/default-of-credit-card-clients-dat</a:t>
            </a:r>
            <a:endParaRPr sz="1700"/>
          </a:p>
          <a:p>
            <a:pPr indent="0" lvl="0" marL="0" rtl="0" algn="l">
              <a:spcBef>
                <a:spcPts val="1200"/>
              </a:spcBef>
              <a:spcAft>
                <a:spcPts val="1200"/>
              </a:spcAft>
              <a:buSzPts val="440"/>
              <a:buNone/>
            </a:pPr>
            <a:r>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Source</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 Size:</a:t>
            </a:r>
            <a:endParaRPr b="1"/>
          </a:p>
          <a:p>
            <a:pPr indent="-342900" lvl="0" marL="457200" rtl="0" algn="l">
              <a:spcBef>
                <a:spcPts val="1200"/>
              </a:spcBef>
              <a:spcAft>
                <a:spcPts val="0"/>
              </a:spcAft>
              <a:buSzPts val="1800"/>
              <a:buChar char="●"/>
            </a:pPr>
            <a:r>
              <a:rPr lang="en"/>
              <a:t>Number of rows: 30,000</a:t>
            </a:r>
            <a:endParaRPr/>
          </a:p>
          <a:p>
            <a:pPr indent="-342900" lvl="0" marL="457200" rtl="0" algn="l">
              <a:spcBef>
                <a:spcPts val="0"/>
              </a:spcBef>
              <a:spcAft>
                <a:spcPts val="0"/>
              </a:spcAft>
              <a:buSzPts val="1800"/>
              <a:buChar char="●"/>
            </a:pPr>
            <a:r>
              <a:rPr lang="en"/>
              <a:t>Number of features: 25</a:t>
            </a:r>
            <a:endParaRPr/>
          </a:p>
          <a:p>
            <a:pPr indent="0" lvl="0" marL="0" rtl="0" algn="l">
              <a:spcBef>
                <a:spcPts val="1200"/>
              </a:spcBef>
              <a:spcAft>
                <a:spcPts val="0"/>
              </a:spcAft>
              <a:buNone/>
            </a:pPr>
            <a:r>
              <a:rPr b="1" lang="en"/>
              <a:t>Data Types:</a:t>
            </a:r>
            <a:endParaRPr b="1"/>
          </a:p>
          <a:p>
            <a:pPr indent="0" lvl="0" marL="0" rtl="0" algn="l">
              <a:spcBef>
                <a:spcPts val="1200"/>
              </a:spcBef>
              <a:spcAft>
                <a:spcPts val="0"/>
              </a:spcAft>
              <a:buNone/>
            </a:pPr>
            <a:r>
              <a:rPr lang="en"/>
              <a:t>3 </a:t>
            </a:r>
            <a:r>
              <a:rPr lang="en"/>
              <a:t>Categorical</a:t>
            </a:r>
            <a:r>
              <a:rPr lang="en"/>
              <a:t> features and the </a:t>
            </a:r>
            <a:r>
              <a:rPr lang="en"/>
              <a:t>remaining</a:t>
            </a:r>
            <a:r>
              <a:rPr lang="en"/>
              <a:t> Numerical features.</a:t>
            </a:r>
            <a:endParaRPr/>
          </a:p>
          <a:p>
            <a:pPr indent="-342900" lvl="0" marL="457200" rtl="0" algn="l">
              <a:spcBef>
                <a:spcPts val="1200"/>
              </a:spcBef>
              <a:spcAft>
                <a:spcPts val="0"/>
              </a:spcAft>
              <a:buSzPts val="1800"/>
              <a:buChar char="●"/>
            </a:pPr>
            <a:r>
              <a:rPr lang="en"/>
              <a:t>Education</a:t>
            </a:r>
            <a:endParaRPr/>
          </a:p>
          <a:p>
            <a:pPr indent="-342900" lvl="0" marL="457200" rtl="0" algn="l">
              <a:spcBef>
                <a:spcPts val="0"/>
              </a:spcBef>
              <a:spcAft>
                <a:spcPts val="0"/>
              </a:spcAft>
              <a:buSzPts val="1800"/>
              <a:buChar char="●"/>
            </a:pPr>
            <a:r>
              <a:rPr lang="en"/>
              <a:t>Sex</a:t>
            </a:r>
            <a:endParaRPr/>
          </a:p>
          <a:p>
            <a:pPr indent="-342900" lvl="0" marL="457200" rtl="0" algn="l">
              <a:spcBef>
                <a:spcPts val="0"/>
              </a:spcBef>
              <a:spcAft>
                <a:spcPts val="0"/>
              </a:spcAft>
              <a:buSzPts val="1800"/>
              <a:buChar char="●"/>
            </a:pPr>
            <a:r>
              <a:rPr lang="en"/>
              <a:t>Marriage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Cleaning</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dataset contains 3 categorical variables: Education,Sex and Marriage</a:t>
            </a:r>
            <a:endParaRPr/>
          </a:p>
          <a:p>
            <a:pPr indent="-342900" lvl="0" marL="457200" rtl="0" algn="l">
              <a:spcBef>
                <a:spcPts val="0"/>
              </a:spcBef>
              <a:spcAft>
                <a:spcPts val="0"/>
              </a:spcAft>
              <a:buSzPts val="1800"/>
              <a:buChar char="●"/>
            </a:pPr>
            <a:r>
              <a:rPr lang="en"/>
              <a:t>Rare or undefined values in Education([0,5,6]) were grouped under category 4,and Marriage value </a:t>
            </a:r>
            <a:r>
              <a:rPr lang="en"/>
              <a:t>0 was</a:t>
            </a:r>
            <a:r>
              <a:rPr lang="en"/>
              <a:t> reassigned to 3(“Others”)</a:t>
            </a:r>
            <a:endParaRPr/>
          </a:p>
          <a:p>
            <a:pPr indent="-342900" lvl="0" marL="457200" rtl="0" algn="l">
              <a:spcBef>
                <a:spcPts val="0"/>
              </a:spcBef>
              <a:spcAft>
                <a:spcPts val="0"/>
              </a:spcAft>
              <a:buSzPts val="1800"/>
              <a:buChar char="●"/>
            </a:pPr>
            <a:r>
              <a:rPr lang="en"/>
              <a:t>The column PAY_0 was renamed to PAY_1for consistency with other payment status features.</a:t>
            </a:r>
            <a:endParaRPr/>
          </a:p>
          <a:p>
            <a:pPr indent="-342900" lvl="0" marL="457200" rtl="0" algn="l">
              <a:spcBef>
                <a:spcPts val="0"/>
              </a:spcBef>
              <a:spcAft>
                <a:spcPts val="0"/>
              </a:spcAft>
              <a:buSzPts val="1800"/>
              <a:buChar char="●"/>
            </a:pPr>
            <a:r>
              <a:rPr lang="en"/>
              <a:t>The dataset contains no missing values or </a:t>
            </a:r>
            <a:r>
              <a:rPr lang="en"/>
              <a:t>duplicate</a:t>
            </a:r>
            <a:r>
              <a:rPr lang="en"/>
              <a:t> </a:t>
            </a:r>
            <a:r>
              <a:rPr lang="en"/>
              <a:t>entries</a:t>
            </a:r>
            <a:r>
              <a:rPr lang="en"/>
              <a:t>,ensuring data integrity.</a:t>
            </a:r>
            <a:endParaRPr/>
          </a:p>
          <a:p>
            <a:pPr indent="-342900" lvl="0" marL="457200" rtl="0" algn="l">
              <a:spcBef>
                <a:spcPts val="0"/>
              </a:spcBef>
              <a:spcAft>
                <a:spcPts val="0"/>
              </a:spcAft>
              <a:buSzPts val="1800"/>
              <a:buChar char="●"/>
            </a:pPr>
            <a:r>
              <a:rPr lang="en"/>
              <a:t>A significant class imbalance exists,with the majority of samples belonging to class 0(non-default).Techniques such as resampling or SMOTE may be applied to address this imbalance.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Exploratory</a:t>
            </a:r>
            <a:r>
              <a:rPr lang="en"/>
              <a:t> Data Analysis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lnSpc>
                <a:spcPct val="105000"/>
              </a:lnSpc>
              <a:spcBef>
                <a:spcPts val="0"/>
              </a:spcBef>
              <a:spcAft>
                <a:spcPts val="0"/>
              </a:spcAft>
              <a:buSzPts val="1600"/>
              <a:buChar char="●"/>
            </a:pPr>
            <a:r>
              <a:rPr b="1" lang="en" sz="1600"/>
              <a:t>Categorical Feature Distributions:</a:t>
            </a:r>
            <a:r>
              <a:rPr lang="en" sz="1600"/>
              <a:t>The three categorical variables—EDUCATION, MARRIAGE, and SEX—were analyzed and visualized to understand their relationship with default status.</a:t>
            </a:r>
            <a:endParaRPr sz="1600"/>
          </a:p>
          <a:p>
            <a:pPr indent="-330200" lvl="0" marL="457200" rtl="0" algn="l">
              <a:lnSpc>
                <a:spcPct val="105000"/>
              </a:lnSpc>
              <a:spcBef>
                <a:spcPts val="0"/>
              </a:spcBef>
              <a:spcAft>
                <a:spcPts val="0"/>
              </a:spcAft>
              <a:buSzPts val="1600"/>
              <a:buChar char="●"/>
            </a:pPr>
            <a:r>
              <a:rPr b="1" lang="en" sz="1600"/>
              <a:t>Gender vs. Default Status:</a:t>
            </a:r>
            <a:r>
              <a:rPr lang="en" sz="1600"/>
              <a:t>Although females make up 60% of the dataset, males show a higher default rate (24% of all males). Class 0 (non-default) dominates both genders due to class imbalance.</a:t>
            </a:r>
            <a:endParaRPr sz="1600"/>
          </a:p>
          <a:p>
            <a:pPr indent="-330200" lvl="0" marL="457200" rtl="0" algn="l">
              <a:lnSpc>
                <a:spcPct val="105000"/>
              </a:lnSpc>
              <a:spcBef>
                <a:spcPts val="0"/>
              </a:spcBef>
              <a:spcAft>
                <a:spcPts val="0"/>
              </a:spcAft>
              <a:buSzPts val="1600"/>
              <a:buChar char="●"/>
            </a:pPr>
            <a:r>
              <a:rPr b="1" lang="en" sz="1600"/>
              <a:t>Education Levels:</a:t>
            </a:r>
            <a:r>
              <a:rPr lang="en" sz="1600"/>
              <a:t>Most clients, both defaulters and non-defaulters, belong to the Graduate School and University categories. Other education levels contribute minimally, likely due to sparse data.</a:t>
            </a:r>
            <a:endParaRPr sz="1600"/>
          </a:p>
          <a:p>
            <a:pPr indent="0" lvl="0" marL="0" rtl="0" algn="l">
              <a:lnSpc>
                <a:spcPct val="105000"/>
              </a:lnSpc>
              <a:spcBef>
                <a:spcPts val="1200"/>
              </a:spcBef>
              <a:spcAft>
                <a:spcPts val="1200"/>
              </a:spcAft>
              <a:buSzPts val="440"/>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Exploratory Data Analysis(Contd.)</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Marriage Status: Defaulters are primarily found in the 'Single' and 'Married' groups.</a:t>
            </a:r>
            <a:endParaRPr/>
          </a:p>
          <a:p>
            <a:pPr indent="-325755" lvl="0" marL="457200" rtl="0" algn="l">
              <a:spcBef>
                <a:spcPts val="0"/>
              </a:spcBef>
              <a:spcAft>
                <a:spcPts val="0"/>
              </a:spcAft>
              <a:buSzPct val="100000"/>
              <a:buChar char="●"/>
            </a:pPr>
            <a:r>
              <a:rPr lang="en"/>
              <a:t>Age Distribution: Age was binned for visualization; clients in their 20s show the highest default rate, possibly due to limited savings.</a:t>
            </a:r>
            <a:endParaRPr/>
          </a:p>
          <a:p>
            <a:pPr indent="-325755" lvl="0" marL="457200" rtl="0" algn="l">
              <a:spcBef>
                <a:spcPts val="0"/>
              </a:spcBef>
              <a:spcAft>
                <a:spcPts val="0"/>
              </a:spcAft>
              <a:buSzPct val="100000"/>
              <a:buChar char="●"/>
            </a:pPr>
            <a:r>
              <a:rPr lang="en"/>
              <a:t>Correlation Insights: LIMIT_BAL and PAY_1 show strong correlation with default status, indicating their predictive importance.</a:t>
            </a:r>
            <a:endParaRPr/>
          </a:p>
          <a:p>
            <a:pPr indent="-325755" lvl="0" marL="457200" rtl="0" algn="l">
              <a:spcBef>
                <a:spcPts val="0"/>
              </a:spcBef>
              <a:spcAft>
                <a:spcPts val="0"/>
              </a:spcAft>
              <a:buSzPct val="100000"/>
              <a:buChar char="●"/>
            </a:pPr>
            <a:r>
              <a:rPr lang="en"/>
              <a:t>Compute Variance Inflation factor to check Multicollinearity</a:t>
            </a:r>
            <a:endParaRPr/>
          </a:p>
          <a:p>
            <a:pPr indent="-325755" lvl="0" marL="457200" rtl="0" algn="l">
              <a:spcBef>
                <a:spcPts val="0"/>
              </a:spcBef>
              <a:spcAft>
                <a:spcPts val="0"/>
              </a:spcAft>
              <a:buSzPct val="100000"/>
              <a:buChar char="●"/>
            </a:pPr>
            <a:r>
              <a:rPr lang="en"/>
              <a:t>Check Outliers by Credit Limit</a:t>
            </a:r>
            <a:endParaRPr/>
          </a:p>
          <a:p>
            <a:pPr indent="-325755" lvl="0" marL="457200" rtl="0" algn="l">
              <a:spcBef>
                <a:spcPts val="0"/>
              </a:spcBef>
              <a:spcAft>
                <a:spcPts val="0"/>
              </a:spcAft>
              <a:buSzPct val="100000"/>
              <a:buChar char="●"/>
            </a:pPr>
            <a:r>
              <a:rPr lang="en"/>
              <a:t>Credit Limit Patterns: Non-defaulters tend to have higher and more flexible credit limits; defaulters are assigned lower limits, reflecting risk-based credit allocation.</a:t>
            </a:r>
            <a:endParaRPr/>
          </a:p>
          <a:p>
            <a:pPr indent="-325755" lvl="0" marL="457200" rtl="0" algn="l">
              <a:spcBef>
                <a:spcPts val="0"/>
              </a:spcBef>
              <a:spcAft>
                <a:spcPts val="0"/>
              </a:spcAft>
              <a:buSzPct val="100000"/>
              <a:buChar char="●"/>
            </a:pPr>
            <a:r>
              <a:rPr lang="en"/>
              <a:t>Perform Statistical Tests like chi </a:t>
            </a:r>
            <a:r>
              <a:rPr lang="en"/>
              <a:t>square</a:t>
            </a:r>
            <a:r>
              <a:rPr lang="en"/>
              <a:t> tests(Categorical columns)	 and Anova Test  (Numerical columns)</a:t>
            </a:r>
            <a:endParaRPr/>
          </a:p>
          <a:p>
            <a:pPr indent="-325755" lvl="0" marL="457200" rtl="0" algn="l">
              <a:spcBef>
                <a:spcPts val="0"/>
              </a:spcBef>
              <a:spcAft>
                <a:spcPts val="0"/>
              </a:spcAft>
              <a:buSzPct val="100000"/>
              <a:buChar char="●"/>
            </a:pPr>
            <a:r>
              <a:rPr lang="en"/>
              <a:t>Kde plot on the strongest predictor</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Exploratory Data Analysis(Contd.)</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8" name="Google Shape;98;p20" title="Screenshot 2025-11-09 231844.png"/>
          <p:cNvPicPr preferRelativeResize="0"/>
          <p:nvPr/>
        </p:nvPicPr>
        <p:blipFill>
          <a:blip r:embed="rId3">
            <a:alphaModFix/>
          </a:blip>
          <a:stretch>
            <a:fillRect/>
          </a:stretch>
        </p:blipFill>
        <p:spPr>
          <a:xfrm>
            <a:off x="408500" y="1253975"/>
            <a:ext cx="3511300" cy="3123476"/>
          </a:xfrm>
          <a:prstGeom prst="rect">
            <a:avLst/>
          </a:prstGeom>
          <a:noFill/>
          <a:ln>
            <a:noFill/>
          </a:ln>
        </p:spPr>
      </p:pic>
      <p:pic>
        <p:nvPicPr>
          <p:cNvPr id="99" name="Google Shape;99;p20" title="Screenshot 2025-11-09 231908.png"/>
          <p:cNvPicPr preferRelativeResize="0"/>
          <p:nvPr/>
        </p:nvPicPr>
        <p:blipFill>
          <a:blip r:embed="rId4">
            <a:alphaModFix/>
          </a:blip>
          <a:stretch>
            <a:fillRect/>
          </a:stretch>
        </p:blipFill>
        <p:spPr>
          <a:xfrm>
            <a:off x="3999400" y="1242450"/>
            <a:ext cx="4606250" cy="3123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Exploratory Data Analysis(Contd.)</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6" name="Google Shape;106;p21" title="Screenshot 2025-11-09 231923.png"/>
          <p:cNvPicPr preferRelativeResize="0"/>
          <p:nvPr/>
        </p:nvPicPr>
        <p:blipFill>
          <a:blip r:embed="rId3">
            <a:alphaModFix/>
          </a:blip>
          <a:stretch>
            <a:fillRect/>
          </a:stretch>
        </p:blipFill>
        <p:spPr>
          <a:xfrm>
            <a:off x="420150" y="1253525"/>
            <a:ext cx="3599149" cy="3104024"/>
          </a:xfrm>
          <a:prstGeom prst="rect">
            <a:avLst/>
          </a:prstGeom>
          <a:noFill/>
          <a:ln>
            <a:noFill/>
          </a:ln>
        </p:spPr>
      </p:pic>
      <p:pic>
        <p:nvPicPr>
          <p:cNvPr id="107" name="Google Shape;107;p21" title="Screenshot 2025-11-09 231934.png"/>
          <p:cNvPicPr preferRelativeResize="0"/>
          <p:nvPr/>
        </p:nvPicPr>
        <p:blipFill>
          <a:blip r:embed="rId4">
            <a:alphaModFix/>
          </a:blip>
          <a:stretch>
            <a:fillRect/>
          </a:stretch>
        </p:blipFill>
        <p:spPr>
          <a:xfrm>
            <a:off x="4128725" y="1253525"/>
            <a:ext cx="4486875" cy="3104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ML PipeLine</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Data Preprocessing</a:t>
            </a:r>
            <a:endParaRPr/>
          </a:p>
          <a:p>
            <a:pPr indent="-342900" lvl="0" marL="457200" rtl="0" algn="l">
              <a:spcBef>
                <a:spcPts val="0"/>
              </a:spcBef>
              <a:spcAft>
                <a:spcPts val="0"/>
              </a:spcAft>
              <a:buSzPts val="1800"/>
              <a:buChar char="●"/>
            </a:pPr>
            <a:r>
              <a:rPr lang="en"/>
              <a:t>Separate Features &amp; Target and Train/Test/Validation Split</a:t>
            </a:r>
            <a:endParaRPr/>
          </a:p>
          <a:p>
            <a:pPr indent="-342900" lvl="0" marL="457200" rtl="0" algn="l">
              <a:spcBef>
                <a:spcPts val="0"/>
              </a:spcBef>
              <a:spcAft>
                <a:spcPts val="0"/>
              </a:spcAft>
              <a:buSzPts val="1800"/>
              <a:buChar char="●"/>
            </a:pPr>
            <a:r>
              <a:rPr lang="en"/>
              <a:t>Feature Selection and Scaling</a:t>
            </a:r>
            <a:endParaRPr/>
          </a:p>
          <a:p>
            <a:pPr indent="-342900" lvl="0" marL="457200" rtl="0" algn="l">
              <a:spcBef>
                <a:spcPts val="0"/>
              </a:spcBef>
              <a:spcAft>
                <a:spcPts val="0"/>
              </a:spcAft>
              <a:buSzPts val="1800"/>
              <a:buChar char="●"/>
            </a:pPr>
            <a:r>
              <a:rPr lang="en"/>
              <a:t>Handle Class Imbalance</a:t>
            </a:r>
            <a:endParaRPr/>
          </a:p>
          <a:p>
            <a:pPr indent="-342900" lvl="0" marL="457200" rtl="0" algn="l">
              <a:spcBef>
                <a:spcPts val="0"/>
              </a:spcBef>
              <a:spcAft>
                <a:spcPts val="0"/>
              </a:spcAft>
              <a:buSzPts val="1800"/>
              <a:buChar char="●"/>
            </a:pPr>
            <a:r>
              <a:rPr lang="en"/>
              <a:t>Model Training and Evaluation</a:t>
            </a:r>
            <a:endParaRPr/>
          </a:p>
          <a:p>
            <a:pPr indent="-342900" lvl="0" marL="457200" rtl="0" algn="l">
              <a:spcBef>
                <a:spcPts val="0"/>
              </a:spcBef>
              <a:spcAft>
                <a:spcPts val="0"/>
              </a:spcAft>
              <a:buSzPts val="1800"/>
              <a:buChar char="●"/>
            </a:pPr>
            <a:r>
              <a:rPr lang="en"/>
              <a:t>Model Performance Summary</a:t>
            </a:r>
            <a:endParaRPr/>
          </a:p>
          <a:p>
            <a:pPr indent="-342900" lvl="0" marL="457200" rtl="0" algn="l">
              <a:spcBef>
                <a:spcPts val="0"/>
              </a:spcBef>
              <a:spcAft>
                <a:spcPts val="0"/>
              </a:spcAft>
              <a:buSzPts val="1800"/>
              <a:buChar char="●"/>
            </a:pPr>
            <a:r>
              <a:rPr lang="en"/>
              <a:t>Implementing the best model on Testset</a:t>
            </a:r>
            <a:endParaRPr/>
          </a:p>
          <a:p>
            <a:pPr indent="-342900" lvl="0" marL="457200" rtl="0" algn="l">
              <a:spcBef>
                <a:spcPts val="0"/>
              </a:spcBef>
              <a:spcAft>
                <a:spcPts val="0"/>
              </a:spcAft>
              <a:buSzPts val="1800"/>
              <a:buChar char="●"/>
            </a:pPr>
            <a:r>
              <a:rPr lang="en"/>
              <a:t>Conclusion</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Training and Evaluation</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Default Credit Card Clients project has been trained on the following 4 Supervised learning algorithms:</a:t>
            </a:r>
            <a:endParaRPr/>
          </a:p>
          <a:p>
            <a:pPr indent="-342900" lvl="0" marL="457200" rtl="0" algn="l">
              <a:spcBef>
                <a:spcPts val="1200"/>
              </a:spcBef>
              <a:spcAft>
                <a:spcPts val="0"/>
              </a:spcAft>
              <a:buSzPts val="1800"/>
              <a:buChar char="●"/>
            </a:pPr>
            <a:r>
              <a:rPr lang="en"/>
              <a:t>Logistic Regression</a:t>
            </a:r>
            <a:endParaRPr/>
          </a:p>
          <a:p>
            <a:pPr indent="-342900" lvl="0" marL="457200" rtl="0" algn="l">
              <a:spcBef>
                <a:spcPts val="0"/>
              </a:spcBef>
              <a:spcAft>
                <a:spcPts val="0"/>
              </a:spcAft>
              <a:buSzPts val="1800"/>
              <a:buChar char="●"/>
            </a:pPr>
            <a:r>
              <a:rPr lang="en"/>
              <a:t>Random Forest Classifier</a:t>
            </a:r>
            <a:endParaRPr/>
          </a:p>
          <a:p>
            <a:pPr indent="-342900" lvl="0" marL="457200" rtl="0" algn="l">
              <a:spcBef>
                <a:spcPts val="0"/>
              </a:spcBef>
              <a:spcAft>
                <a:spcPts val="0"/>
              </a:spcAft>
              <a:buSzPts val="1800"/>
              <a:buChar char="●"/>
            </a:pPr>
            <a:r>
              <a:rPr lang="en"/>
              <a:t>XGBoost</a:t>
            </a:r>
            <a:endParaRPr/>
          </a:p>
          <a:p>
            <a:pPr indent="-342900" lvl="0" marL="457200" rtl="0" algn="l">
              <a:spcBef>
                <a:spcPts val="0"/>
              </a:spcBef>
              <a:spcAft>
                <a:spcPts val="0"/>
              </a:spcAft>
              <a:buSzPts val="1800"/>
              <a:buChar char="●"/>
            </a:pPr>
            <a:r>
              <a:rPr lang="en"/>
              <a:t>SVC</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Optimization Summary</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Applied hyperparameter tuning to each model using GridSearch/Randomized CV to identify optimal settings.</a:t>
            </a:r>
            <a:endParaRPr/>
          </a:p>
          <a:p>
            <a:pPr indent="-342900" lvl="0" marL="457200" rtl="0" algn="l">
              <a:spcBef>
                <a:spcPts val="0"/>
              </a:spcBef>
              <a:spcAft>
                <a:spcPts val="0"/>
              </a:spcAft>
              <a:buSzPts val="1800"/>
              <a:buChar char="●"/>
            </a:pPr>
            <a:r>
              <a:rPr lang="en"/>
              <a:t>Select the best threshold value for classification and recalculated accuracy.</a:t>
            </a:r>
            <a:endParaRPr/>
          </a:p>
          <a:p>
            <a:pPr indent="-342900" lvl="0" marL="457200" rtl="0" algn="l">
              <a:spcBef>
                <a:spcPts val="0"/>
              </a:spcBef>
              <a:spcAft>
                <a:spcPts val="0"/>
              </a:spcAft>
              <a:buSzPts val="1800"/>
              <a:buChar char="●"/>
            </a:pPr>
            <a:r>
              <a:rPr lang="en"/>
              <a:t>Preformed Cross-validation on each model to compute the mean F1 score ensuring robust performance evaluation.</a:t>
            </a:r>
            <a:endParaRPr/>
          </a:p>
          <a:p>
            <a:pPr indent="-342900" lvl="0" marL="457200" rtl="0" algn="l">
              <a:spcBef>
                <a:spcPts val="0"/>
              </a:spcBef>
              <a:spcAft>
                <a:spcPts val="0"/>
              </a:spcAft>
              <a:buSzPts val="1800"/>
              <a:buChar char="●"/>
            </a:pPr>
            <a:r>
              <a:rPr lang="en"/>
              <a:t>Compared tuned models against baseline versions to assess improvements in recall,F1 score and ROC-AUC.</a:t>
            </a:r>
            <a:endParaRPr/>
          </a:p>
          <a:p>
            <a:pPr indent="-342900" lvl="0" marL="457200" rtl="0" algn="l">
              <a:spcBef>
                <a:spcPts val="0"/>
              </a:spcBef>
              <a:spcAft>
                <a:spcPts val="0"/>
              </a:spcAft>
              <a:buSzPts val="1800"/>
              <a:buChar char="●"/>
            </a:pPr>
            <a:r>
              <a:rPr lang="en"/>
              <a:t>Visualized performance metrics to support final model selection.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Regression(Baseline Model)</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2" name="Google Shape;132;p25" title="Screenshot 2025-11-09 213716.png"/>
          <p:cNvPicPr preferRelativeResize="0"/>
          <p:nvPr/>
        </p:nvPicPr>
        <p:blipFill>
          <a:blip r:embed="rId3">
            <a:alphaModFix/>
          </a:blip>
          <a:stretch>
            <a:fillRect/>
          </a:stretch>
        </p:blipFill>
        <p:spPr>
          <a:xfrm>
            <a:off x="311700" y="1285125"/>
            <a:ext cx="3846875" cy="3151100"/>
          </a:xfrm>
          <a:prstGeom prst="rect">
            <a:avLst/>
          </a:prstGeom>
          <a:noFill/>
          <a:ln>
            <a:noFill/>
          </a:ln>
        </p:spPr>
      </p:pic>
      <p:pic>
        <p:nvPicPr>
          <p:cNvPr id="133" name="Google Shape;133;p25" title="Screenshot 2025-11-09 214046.png"/>
          <p:cNvPicPr preferRelativeResize="0"/>
          <p:nvPr/>
        </p:nvPicPr>
        <p:blipFill>
          <a:blip r:embed="rId4">
            <a:alphaModFix/>
          </a:blip>
          <a:stretch>
            <a:fillRect/>
          </a:stretch>
        </p:blipFill>
        <p:spPr>
          <a:xfrm>
            <a:off x="4572000" y="1285125"/>
            <a:ext cx="4083399" cy="3151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(HyperTuned Model)</a:t>
            </a:r>
            <a:endParaRPr/>
          </a:p>
        </p:txBody>
      </p:sp>
      <p:sp>
        <p:nvSpPr>
          <p:cNvPr id="139" name="Google Shape;13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0" name="Google Shape;140;p26" title="Screenshot 2025-11-09 214658.png"/>
          <p:cNvPicPr preferRelativeResize="0"/>
          <p:nvPr/>
        </p:nvPicPr>
        <p:blipFill>
          <a:blip r:embed="rId3">
            <a:alphaModFix/>
          </a:blip>
          <a:stretch>
            <a:fillRect/>
          </a:stretch>
        </p:blipFill>
        <p:spPr>
          <a:xfrm>
            <a:off x="4572000" y="1273850"/>
            <a:ext cx="4043600" cy="3173651"/>
          </a:xfrm>
          <a:prstGeom prst="rect">
            <a:avLst/>
          </a:prstGeom>
          <a:noFill/>
          <a:ln>
            <a:noFill/>
          </a:ln>
        </p:spPr>
      </p:pic>
      <p:pic>
        <p:nvPicPr>
          <p:cNvPr id="141" name="Google Shape;141;p26"/>
          <p:cNvPicPr preferRelativeResize="0"/>
          <p:nvPr/>
        </p:nvPicPr>
        <p:blipFill>
          <a:blip r:embed="rId4">
            <a:alphaModFix/>
          </a:blip>
          <a:stretch>
            <a:fillRect/>
          </a:stretch>
        </p:blipFill>
        <p:spPr>
          <a:xfrm>
            <a:off x="452950" y="1273850"/>
            <a:ext cx="4043601" cy="317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Regression(Best Threshold)</a:t>
            </a:r>
            <a:endParaRPr/>
          </a:p>
        </p:txBody>
      </p:sp>
      <p:sp>
        <p:nvSpPr>
          <p:cNvPr id="147" name="Google Shape;14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7"/>
          <p:cNvPicPr preferRelativeResize="0"/>
          <p:nvPr/>
        </p:nvPicPr>
        <p:blipFill>
          <a:blip r:embed="rId3">
            <a:alphaModFix/>
          </a:blip>
          <a:stretch>
            <a:fillRect/>
          </a:stretch>
        </p:blipFill>
        <p:spPr>
          <a:xfrm>
            <a:off x="378200" y="1263900"/>
            <a:ext cx="3735650" cy="3193549"/>
          </a:xfrm>
          <a:prstGeom prst="rect">
            <a:avLst/>
          </a:prstGeom>
          <a:noFill/>
          <a:ln>
            <a:noFill/>
          </a:ln>
        </p:spPr>
      </p:pic>
      <p:pic>
        <p:nvPicPr>
          <p:cNvPr id="149" name="Google Shape;149;p27"/>
          <p:cNvPicPr preferRelativeResize="0"/>
          <p:nvPr/>
        </p:nvPicPr>
        <p:blipFill>
          <a:blip r:embed="rId4">
            <a:alphaModFix/>
          </a:blip>
          <a:stretch>
            <a:fillRect/>
          </a:stretch>
        </p:blipFill>
        <p:spPr>
          <a:xfrm>
            <a:off x="4203825" y="1263900"/>
            <a:ext cx="4427174" cy="3193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Classifier(Baseline Model)</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8" title="Screenshot 2025-11-09 220001.png"/>
          <p:cNvPicPr preferRelativeResize="0"/>
          <p:nvPr/>
        </p:nvPicPr>
        <p:blipFill>
          <a:blip r:embed="rId3">
            <a:alphaModFix/>
          </a:blip>
          <a:stretch>
            <a:fillRect/>
          </a:stretch>
        </p:blipFill>
        <p:spPr>
          <a:xfrm>
            <a:off x="4436600" y="1293325"/>
            <a:ext cx="4149175" cy="2959375"/>
          </a:xfrm>
          <a:prstGeom prst="rect">
            <a:avLst/>
          </a:prstGeom>
          <a:noFill/>
          <a:ln>
            <a:noFill/>
          </a:ln>
        </p:spPr>
      </p:pic>
      <p:pic>
        <p:nvPicPr>
          <p:cNvPr id="157" name="Google Shape;157;p28"/>
          <p:cNvPicPr preferRelativeResize="0"/>
          <p:nvPr/>
        </p:nvPicPr>
        <p:blipFill>
          <a:blip r:embed="rId4">
            <a:alphaModFix/>
          </a:blip>
          <a:stretch>
            <a:fillRect/>
          </a:stretch>
        </p:blipFill>
        <p:spPr>
          <a:xfrm>
            <a:off x="403075" y="1293325"/>
            <a:ext cx="3884850" cy="2959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Classifier(HyperTuned Model)</a:t>
            </a:r>
            <a:endParaRPr/>
          </a:p>
        </p:txBody>
      </p:sp>
      <p:sp>
        <p:nvSpPr>
          <p:cNvPr id="163" name="Google Shape;16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4" name="Google Shape;164;p29"/>
          <p:cNvPicPr preferRelativeResize="0"/>
          <p:nvPr/>
        </p:nvPicPr>
        <p:blipFill>
          <a:blip r:embed="rId3">
            <a:alphaModFix/>
          </a:blip>
          <a:stretch>
            <a:fillRect/>
          </a:stretch>
        </p:blipFill>
        <p:spPr>
          <a:xfrm>
            <a:off x="448500" y="1263500"/>
            <a:ext cx="4023725" cy="3104000"/>
          </a:xfrm>
          <a:prstGeom prst="rect">
            <a:avLst/>
          </a:prstGeom>
          <a:noFill/>
          <a:ln>
            <a:noFill/>
          </a:ln>
        </p:spPr>
      </p:pic>
      <p:pic>
        <p:nvPicPr>
          <p:cNvPr id="165" name="Google Shape;165;p29"/>
          <p:cNvPicPr preferRelativeResize="0"/>
          <p:nvPr/>
        </p:nvPicPr>
        <p:blipFill>
          <a:blip r:embed="rId4">
            <a:alphaModFix/>
          </a:blip>
          <a:stretch>
            <a:fillRect/>
          </a:stretch>
        </p:blipFill>
        <p:spPr>
          <a:xfrm>
            <a:off x="4572000" y="1263500"/>
            <a:ext cx="4084376" cy="3104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Classifier(Best Threshold)</a:t>
            </a:r>
            <a:endParaRPr/>
          </a:p>
        </p:txBody>
      </p:sp>
      <p:sp>
        <p:nvSpPr>
          <p:cNvPr id="171" name="Google Shape;17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2" name="Google Shape;172;p30"/>
          <p:cNvPicPr preferRelativeResize="0"/>
          <p:nvPr/>
        </p:nvPicPr>
        <p:blipFill>
          <a:blip r:embed="rId3">
            <a:alphaModFix/>
          </a:blip>
          <a:stretch>
            <a:fillRect/>
          </a:stretch>
        </p:blipFill>
        <p:spPr>
          <a:xfrm>
            <a:off x="395288" y="1274750"/>
            <a:ext cx="8353425" cy="3171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XGBoost (Baseline Model)</a:t>
            </a:r>
            <a:endParaRPr/>
          </a:p>
        </p:txBody>
      </p:sp>
      <p:sp>
        <p:nvSpPr>
          <p:cNvPr id="178" name="Google Shape;17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9" name="Google Shape;179;p31" title="Screenshot 2025-11-09 221050.png"/>
          <p:cNvPicPr preferRelativeResize="0"/>
          <p:nvPr/>
        </p:nvPicPr>
        <p:blipFill>
          <a:blip r:embed="rId3">
            <a:alphaModFix/>
          </a:blip>
          <a:stretch>
            <a:fillRect/>
          </a:stretch>
        </p:blipFill>
        <p:spPr>
          <a:xfrm>
            <a:off x="4098875" y="1283375"/>
            <a:ext cx="4556524" cy="3074174"/>
          </a:xfrm>
          <a:prstGeom prst="rect">
            <a:avLst/>
          </a:prstGeom>
          <a:noFill/>
          <a:ln>
            <a:noFill/>
          </a:ln>
        </p:spPr>
      </p:pic>
      <p:pic>
        <p:nvPicPr>
          <p:cNvPr id="180" name="Google Shape;180;p31"/>
          <p:cNvPicPr preferRelativeResize="0"/>
          <p:nvPr/>
        </p:nvPicPr>
        <p:blipFill>
          <a:blip r:embed="rId4">
            <a:alphaModFix/>
          </a:blip>
          <a:stretch>
            <a:fillRect/>
          </a:stretch>
        </p:blipFill>
        <p:spPr>
          <a:xfrm>
            <a:off x="403750" y="1262825"/>
            <a:ext cx="3552025" cy="3115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XGBoost (HyperTuned Model)</a:t>
            </a:r>
            <a:endParaRPr/>
          </a:p>
        </p:txBody>
      </p:sp>
      <p:sp>
        <p:nvSpPr>
          <p:cNvPr id="186" name="Google Shape;18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7" name="Google Shape;187;p32" title="Screenshot 2025-11-09 221329.png"/>
          <p:cNvPicPr preferRelativeResize="0"/>
          <p:nvPr/>
        </p:nvPicPr>
        <p:blipFill>
          <a:blip r:embed="rId3">
            <a:alphaModFix/>
          </a:blip>
          <a:stretch>
            <a:fillRect/>
          </a:stretch>
        </p:blipFill>
        <p:spPr>
          <a:xfrm>
            <a:off x="3651200" y="1293325"/>
            <a:ext cx="5053952" cy="3064226"/>
          </a:xfrm>
          <a:prstGeom prst="rect">
            <a:avLst/>
          </a:prstGeom>
          <a:noFill/>
          <a:ln>
            <a:noFill/>
          </a:ln>
        </p:spPr>
      </p:pic>
      <p:pic>
        <p:nvPicPr>
          <p:cNvPr id="188" name="Google Shape;188;p32"/>
          <p:cNvPicPr preferRelativeResize="0"/>
          <p:nvPr/>
        </p:nvPicPr>
        <p:blipFill>
          <a:blip r:embed="rId4">
            <a:alphaModFix/>
          </a:blip>
          <a:stretch>
            <a:fillRect/>
          </a:stretch>
        </p:blipFill>
        <p:spPr>
          <a:xfrm>
            <a:off x="311700" y="1293325"/>
            <a:ext cx="3248025" cy="3064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XGBoost (Best Threshold)</a:t>
            </a:r>
            <a:endParaRPr/>
          </a:p>
        </p:txBody>
      </p:sp>
      <p:sp>
        <p:nvSpPr>
          <p:cNvPr id="194" name="Google Shape;19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5" name="Google Shape;195;p33"/>
          <p:cNvPicPr preferRelativeResize="0"/>
          <p:nvPr/>
        </p:nvPicPr>
        <p:blipFill>
          <a:blip r:embed="rId3">
            <a:alphaModFix/>
          </a:blip>
          <a:stretch>
            <a:fillRect/>
          </a:stretch>
        </p:blipFill>
        <p:spPr>
          <a:xfrm>
            <a:off x="390575" y="1232175"/>
            <a:ext cx="8285925" cy="3162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SVC(Baseline Model)</a:t>
            </a:r>
            <a:endParaRPr/>
          </a:p>
        </p:txBody>
      </p:sp>
      <p:sp>
        <p:nvSpPr>
          <p:cNvPr id="201" name="Google Shape;20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2" name="Google Shape;202;p34" title="Screenshot 2025-11-09 230233.png"/>
          <p:cNvPicPr preferRelativeResize="0"/>
          <p:nvPr/>
        </p:nvPicPr>
        <p:blipFill>
          <a:blip r:embed="rId3">
            <a:alphaModFix/>
          </a:blip>
          <a:stretch>
            <a:fillRect/>
          </a:stretch>
        </p:blipFill>
        <p:spPr>
          <a:xfrm>
            <a:off x="3794725" y="1233766"/>
            <a:ext cx="4781099" cy="3163701"/>
          </a:xfrm>
          <a:prstGeom prst="rect">
            <a:avLst/>
          </a:prstGeom>
          <a:noFill/>
          <a:ln>
            <a:noFill/>
          </a:ln>
        </p:spPr>
      </p:pic>
      <p:pic>
        <p:nvPicPr>
          <p:cNvPr id="203" name="Google Shape;203;p34"/>
          <p:cNvPicPr preferRelativeResize="0"/>
          <p:nvPr/>
        </p:nvPicPr>
        <p:blipFill>
          <a:blip r:embed="rId4">
            <a:alphaModFix/>
          </a:blip>
          <a:stretch>
            <a:fillRect/>
          </a:stretch>
        </p:blipFill>
        <p:spPr>
          <a:xfrm>
            <a:off x="344313" y="1224400"/>
            <a:ext cx="3267075" cy="3162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SVC(HyperTuned Model)</a:t>
            </a:r>
            <a:endParaRPr/>
          </a:p>
        </p:txBody>
      </p:sp>
      <p:sp>
        <p:nvSpPr>
          <p:cNvPr id="209" name="Google Shape;20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0" name="Google Shape;210;p35"/>
          <p:cNvPicPr preferRelativeResize="0"/>
          <p:nvPr/>
        </p:nvPicPr>
        <p:blipFill>
          <a:blip r:embed="rId3">
            <a:alphaModFix/>
          </a:blip>
          <a:stretch>
            <a:fillRect/>
          </a:stretch>
        </p:blipFill>
        <p:spPr>
          <a:xfrm>
            <a:off x="385175" y="1263500"/>
            <a:ext cx="3892675" cy="3153750"/>
          </a:xfrm>
          <a:prstGeom prst="rect">
            <a:avLst/>
          </a:prstGeom>
          <a:noFill/>
          <a:ln>
            <a:noFill/>
          </a:ln>
        </p:spPr>
      </p:pic>
      <p:pic>
        <p:nvPicPr>
          <p:cNvPr id="211" name="Google Shape;211;p35"/>
          <p:cNvPicPr preferRelativeResize="0"/>
          <p:nvPr/>
        </p:nvPicPr>
        <p:blipFill>
          <a:blip r:embed="rId4">
            <a:alphaModFix/>
          </a:blip>
          <a:stretch>
            <a:fillRect/>
          </a:stretch>
        </p:blipFill>
        <p:spPr>
          <a:xfrm>
            <a:off x="4479175" y="1304850"/>
            <a:ext cx="4217476" cy="31116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SVC(Best Threshold)</a:t>
            </a:r>
            <a:endParaRPr/>
          </a:p>
        </p:txBody>
      </p:sp>
      <p:sp>
        <p:nvSpPr>
          <p:cNvPr id="217" name="Google Shape;217;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8" name="Google Shape;218;p36"/>
          <p:cNvPicPr preferRelativeResize="0"/>
          <p:nvPr/>
        </p:nvPicPr>
        <p:blipFill>
          <a:blip r:embed="rId3">
            <a:alphaModFix/>
          </a:blip>
          <a:stretch>
            <a:fillRect/>
          </a:stretch>
        </p:blipFill>
        <p:spPr>
          <a:xfrm>
            <a:off x="401600" y="1246175"/>
            <a:ext cx="8224574" cy="3162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Performance Summary</a:t>
            </a:r>
            <a:endParaRPr/>
          </a:p>
        </p:txBody>
      </p:sp>
      <p:sp>
        <p:nvSpPr>
          <p:cNvPr id="224" name="Google Shape;224;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5" name="Google Shape;225;p37"/>
          <p:cNvPicPr preferRelativeResize="0"/>
          <p:nvPr/>
        </p:nvPicPr>
        <p:blipFill>
          <a:blip r:embed="rId3">
            <a:alphaModFix/>
          </a:blip>
          <a:stretch>
            <a:fillRect/>
          </a:stretch>
        </p:blipFill>
        <p:spPr>
          <a:xfrm>
            <a:off x="362375" y="1243075"/>
            <a:ext cx="6613051" cy="3246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20"/>
              <a:t>Implementing the Best Model on the Test set - RFC(Optimized Threshold)</a:t>
            </a:r>
            <a:endParaRPr sz="1920"/>
          </a:p>
        </p:txBody>
      </p:sp>
      <p:sp>
        <p:nvSpPr>
          <p:cNvPr id="231" name="Google Shape;231;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pic>
        <p:nvPicPr>
          <p:cNvPr id="232" name="Google Shape;232;p38"/>
          <p:cNvPicPr preferRelativeResize="0"/>
          <p:nvPr/>
        </p:nvPicPr>
        <p:blipFill>
          <a:blip r:embed="rId3">
            <a:alphaModFix/>
          </a:blip>
          <a:stretch>
            <a:fillRect/>
          </a:stretch>
        </p:blipFill>
        <p:spPr>
          <a:xfrm>
            <a:off x="415475" y="1245600"/>
            <a:ext cx="3822125" cy="3230150"/>
          </a:xfrm>
          <a:prstGeom prst="rect">
            <a:avLst/>
          </a:prstGeom>
          <a:noFill/>
          <a:ln>
            <a:noFill/>
          </a:ln>
        </p:spPr>
      </p:pic>
      <p:pic>
        <p:nvPicPr>
          <p:cNvPr id="233" name="Google Shape;233;p38"/>
          <p:cNvPicPr preferRelativeResize="0"/>
          <p:nvPr/>
        </p:nvPicPr>
        <p:blipFill>
          <a:blip r:embed="rId4">
            <a:alphaModFix/>
          </a:blip>
          <a:stretch>
            <a:fillRect/>
          </a:stretch>
        </p:blipFill>
        <p:spPr>
          <a:xfrm>
            <a:off x="4358650" y="1245600"/>
            <a:ext cx="4327925" cy="32301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39" name="Google Shape;23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5315"/>
              <a:t>Key Learnings</a:t>
            </a:r>
            <a:r>
              <a:rPr b="1" lang="en" sz="5315"/>
              <a:t>:</a:t>
            </a:r>
            <a:endParaRPr b="1" sz="5315"/>
          </a:p>
          <a:p>
            <a:pPr indent="0" lvl="0" marL="0" rtl="0" algn="l">
              <a:spcBef>
                <a:spcPts val="1200"/>
              </a:spcBef>
              <a:spcAft>
                <a:spcPts val="0"/>
              </a:spcAft>
              <a:buNone/>
            </a:pPr>
            <a:r>
              <a:rPr lang="en" sz="5315"/>
              <a:t>1)Threshold Optimization is essential for imbalanced datasets.Optimizing threshold(0.5) for </a:t>
            </a:r>
            <a:r>
              <a:rPr lang="en" sz="5315"/>
              <a:t>Random</a:t>
            </a:r>
            <a:r>
              <a:rPr lang="en" sz="5315"/>
              <a:t> Forest and XGBOOST significantly improve their recall and F1 scores.</a:t>
            </a:r>
            <a:endParaRPr sz="5315"/>
          </a:p>
          <a:p>
            <a:pPr indent="0" lvl="0" marL="0" rtl="0" algn="l">
              <a:spcBef>
                <a:spcPts val="1200"/>
              </a:spcBef>
              <a:spcAft>
                <a:spcPts val="0"/>
              </a:spcAft>
              <a:buNone/>
            </a:pPr>
            <a:r>
              <a:rPr lang="en" sz="5315"/>
              <a:t>2)Other </a:t>
            </a:r>
            <a:r>
              <a:rPr lang="en" sz="5315"/>
              <a:t>Metrics</a:t>
            </a:r>
            <a:r>
              <a:rPr lang="en" sz="5315"/>
              <a:t> like F1 Score,Recall , Precision,ROC AUC should be taken for imbalance data sets other than accuracy.</a:t>
            </a:r>
            <a:endParaRPr sz="5315"/>
          </a:p>
          <a:p>
            <a:pPr indent="0" lvl="0" marL="0" rtl="0" algn="l">
              <a:spcBef>
                <a:spcPts val="1200"/>
              </a:spcBef>
              <a:spcAft>
                <a:spcPts val="0"/>
              </a:spcAft>
              <a:buNone/>
            </a:pPr>
            <a:r>
              <a:rPr lang="en" sz="5315"/>
              <a:t>3)Cross Validation reveals true model </a:t>
            </a:r>
            <a:r>
              <a:rPr lang="en" sz="5315"/>
              <a:t>stability</a:t>
            </a:r>
            <a:r>
              <a:rPr lang="en" sz="5315"/>
              <a:t>. Though Logistic Regression has the highest CV (0.7) it lacked in the other metrics. XGBOOST has the lowest CV score 0.4 showing it is more sensitive to data splits. Random Forest showed strong performance.</a:t>
            </a:r>
            <a:endParaRPr sz="5315"/>
          </a:p>
          <a:p>
            <a:pPr indent="0" lvl="0" marL="0" rtl="0" algn="l">
              <a:spcBef>
                <a:spcPts val="1200"/>
              </a:spcBef>
              <a:spcAft>
                <a:spcPts val="0"/>
              </a:spcAft>
              <a:buNone/>
            </a:pPr>
            <a:r>
              <a:rPr lang="en" sz="5315"/>
              <a:t>4)Ensemble models like XGBOOST and Random Forest showed better performance than the other 2 models.</a:t>
            </a:r>
            <a:endParaRPr sz="5315"/>
          </a:p>
          <a:p>
            <a:pPr indent="0" lvl="0" marL="0" rtl="0" algn="l">
              <a:spcBef>
                <a:spcPts val="1200"/>
              </a:spcBef>
              <a:spcAft>
                <a:spcPts val="0"/>
              </a:spcAft>
              <a:buNone/>
            </a:pPr>
            <a:r>
              <a:rPr lang="en" sz="5315"/>
              <a:t>5)Confusion Matrix Importance should be given to False positives and False negatives for this imbalanced dataset than accuracy.</a:t>
            </a:r>
            <a:endParaRPr sz="5315"/>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4600"/>
              <a:t>Highlights:</a:t>
            </a:r>
            <a:endParaRPr b="1" sz="4600"/>
          </a:p>
          <a:p>
            <a:pPr indent="0" lvl="0" marL="0" rtl="0" algn="l">
              <a:spcBef>
                <a:spcPts val="1200"/>
              </a:spcBef>
              <a:spcAft>
                <a:spcPts val="0"/>
              </a:spcAft>
              <a:buNone/>
            </a:pPr>
            <a:r>
              <a:rPr b="1" lang="en" sz="4600"/>
              <a:t>1)EDA has been done on the data set and found that the class is imbalanced.So, SMOTE and class weight='balanced' techniques were used.</a:t>
            </a:r>
            <a:endParaRPr b="1" sz="4600"/>
          </a:p>
          <a:p>
            <a:pPr indent="0" lvl="0" marL="0" rtl="0" algn="l">
              <a:spcBef>
                <a:spcPts val="1200"/>
              </a:spcBef>
              <a:spcAft>
                <a:spcPts val="0"/>
              </a:spcAft>
              <a:buNone/>
            </a:pPr>
            <a:r>
              <a:rPr b="1" lang="en" sz="4600"/>
              <a:t>2)Data preprocessing and scaling were done on the numerical and categorical columns.</a:t>
            </a:r>
            <a:endParaRPr b="1" sz="4600"/>
          </a:p>
          <a:p>
            <a:pPr indent="0" lvl="0" marL="0" rtl="0" algn="l">
              <a:spcBef>
                <a:spcPts val="1200"/>
              </a:spcBef>
              <a:spcAft>
                <a:spcPts val="0"/>
              </a:spcAft>
              <a:buNone/>
            </a:pPr>
            <a:r>
              <a:rPr b="1" lang="en" sz="4600"/>
              <a:t>3)Evaluated models across Baseline,Hyperparameter Tuning , Optimized threshold and Cross Validation.</a:t>
            </a:r>
            <a:endParaRPr b="1" sz="4600"/>
          </a:p>
          <a:p>
            <a:pPr indent="0" lvl="0" marL="0" rtl="0" algn="l">
              <a:spcBef>
                <a:spcPts val="1200"/>
              </a:spcBef>
              <a:spcAft>
                <a:spcPts val="0"/>
              </a:spcAft>
              <a:buNone/>
            </a:pPr>
            <a:r>
              <a:rPr b="1" lang="en" sz="4600"/>
              <a:t>4)Best Overall Model: Random Forest(Optimized Threshold) Random Forest(Optimized Threshold) 0.796(accuracy),0.538(precision), 0.550(recall),0.544 (F1 SCORE) and ROC AUC (0.777)</a:t>
            </a:r>
            <a:endParaRPr b="1" sz="4600"/>
          </a:p>
          <a:p>
            <a:pPr indent="0" lvl="0" marL="0" rtl="0" algn="l">
              <a:spcBef>
                <a:spcPts val="1200"/>
              </a:spcBef>
              <a:spcAft>
                <a:spcPts val="0"/>
              </a:spcAft>
              <a:buNone/>
            </a:pPr>
            <a:r>
              <a:rPr b="1" lang="en" sz="4600"/>
              <a:t>5)Random Forest Classifier(Optimized Threshold) was applied on the test set and the below metric were calculated.</a:t>
            </a:r>
            <a:endParaRPr b="1" sz="4600"/>
          </a:p>
          <a:p>
            <a:pPr indent="0" lvl="0" marL="0" rtl="0" algn="l">
              <a:spcBef>
                <a:spcPts val="1200"/>
              </a:spcBef>
              <a:spcAft>
                <a:spcPts val="0"/>
              </a:spcAft>
              <a:buNone/>
            </a:pPr>
            <a:r>
              <a:rPr b="1" lang="en" sz="4600"/>
              <a:t>Optimized Threshold Random Forest TestSet Accuracy:0.80 Precision:0.54 Recall:0.55 F1 Score:0.54 ROC AUC:0.77 Confusion Matrix: [[4042 631] [ 597 730]]</a:t>
            </a:r>
            <a:endParaRPr b="1" sz="4600"/>
          </a:p>
          <a:p>
            <a:pPr indent="0" lvl="0" marL="0" rtl="0" algn="l">
              <a:spcBef>
                <a:spcPts val="1200"/>
              </a:spcBef>
              <a:spcAft>
                <a:spcPts val="0"/>
              </a:spcAft>
              <a:buNone/>
            </a:pPr>
            <a:r>
              <a:rPr b="1" lang="en" sz="4600"/>
              <a:t>6)Out of 6000 samples in the testset, we can see that 4772 samples have been predicted accurately.</a:t>
            </a:r>
            <a:endParaRPr b="1" sz="4600"/>
          </a:p>
          <a:p>
            <a:pPr indent="0" lvl="0" marL="0" rtl="0" algn="l">
              <a:spcBef>
                <a:spcPts val="1200"/>
              </a:spcBef>
              <a:spcAft>
                <a:spcPts val="1200"/>
              </a:spcAft>
              <a:buNone/>
            </a:pPr>
            <a:r>
              <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Things to Improve</a:t>
            </a:r>
            <a:endParaRPr/>
          </a:p>
        </p:txBody>
      </p:sp>
      <p:sp>
        <p:nvSpPr>
          <p:cNvPr id="250" name="Google Shape;25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32500" lnSpcReduction="20000"/>
          </a:bodyPr>
          <a:lstStyle/>
          <a:p>
            <a:pPr indent="0" lvl="0" marL="0" rtl="0" algn="l">
              <a:spcBef>
                <a:spcPts val="0"/>
              </a:spcBef>
              <a:spcAft>
                <a:spcPts val="0"/>
              </a:spcAft>
              <a:buNone/>
            </a:pPr>
            <a:r>
              <a:rPr lang="en" sz="5745"/>
              <a:t>1)Feature Engineering - Model performance can be improved by adding more features,domain specific variables</a:t>
            </a:r>
            <a:endParaRPr sz="5745"/>
          </a:p>
          <a:p>
            <a:pPr indent="0" lvl="0" marL="0" rtl="0" algn="l">
              <a:spcBef>
                <a:spcPts val="1200"/>
              </a:spcBef>
              <a:spcAft>
                <a:spcPts val="0"/>
              </a:spcAft>
              <a:buNone/>
            </a:pPr>
            <a:r>
              <a:rPr lang="en" sz="5745"/>
              <a:t>2)Advanced Ensemble methods like LightBOOST and also other models like knn can be implemented.</a:t>
            </a:r>
            <a:endParaRPr sz="5745"/>
          </a:p>
          <a:p>
            <a:pPr indent="0" lvl="0" marL="0" rtl="0" algn="l">
              <a:spcBef>
                <a:spcPts val="1200"/>
              </a:spcBef>
              <a:spcAft>
                <a:spcPts val="0"/>
              </a:spcAft>
              <a:buNone/>
            </a:pPr>
            <a:r>
              <a:rPr lang="en" sz="5745"/>
              <a:t>3)Have to address False negatives since this is very expensive.This can be done using cost sensitive learning.</a:t>
            </a:r>
            <a:endParaRPr sz="5745"/>
          </a:p>
          <a:p>
            <a:pPr indent="0" lvl="0" marL="0" rtl="0" algn="l">
              <a:spcBef>
                <a:spcPts val="1200"/>
              </a:spcBef>
              <a:spcAft>
                <a:spcPts val="0"/>
              </a:spcAft>
              <a:buNone/>
            </a:pPr>
            <a:r>
              <a:rPr lang="en" sz="5745"/>
              <a:t>4)For improving code usability,Pipeline models can be used.</a:t>
            </a:r>
            <a:endParaRPr sz="5745"/>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56" name="Google Shape;25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7273" lvl="0" marL="457200" rtl="0" algn="l">
              <a:spcBef>
                <a:spcPts val="0"/>
              </a:spcBef>
              <a:spcAft>
                <a:spcPts val="0"/>
              </a:spcAft>
              <a:buSzPts val="1869"/>
              <a:buChar char="●"/>
            </a:pPr>
            <a:r>
              <a:rPr lang="en" sz="1868"/>
              <a:t>https://seaborn.pydata.org/generated/seaborn.kdeplot.html</a:t>
            </a:r>
            <a:endParaRPr sz="1868"/>
          </a:p>
          <a:p>
            <a:pPr indent="-347273" lvl="0" marL="457200" rtl="0" algn="l">
              <a:spcBef>
                <a:spcPts val="0"/>
              </a:spcBef>
              <a:spcAft>
                <a:spcPts val="0"/>
              </a:spcAft>
              <a:buSzPts val="1869"/>
              <a:buChar char="●"/>
            </a:pPr>
            <a:r>
              <a:rPr lang="en" sz="1868"/>
              <a:t>https://www.geeksforgeeks.org/python/detecting-multicollinearity-with-vif-python/</a:t>
            </a:r>
            <a:endParaRPr sz="1868"/>
          </a:p>
          <a:p>
            <a:pPr indent="-347273" lvl="0" marL="457200" rtl="0" algn="l">
              <a:spcBef>
                <a:spcPts val="0"/>
              </a:spcBef>
              <a:spcAft>
                <a:spcPts val="0"/>
              </a:spcAft>
              <a:buSzPts val="1869"/>
              <a:buChar char="●"/>
            </a:pPr>
            <a:r>
              <a:rPr lang="en" sz="1868"/>
              <a:t>https://www.geeksforgeeks.org/maths/chi-square-test/</a:t>
            </a:r>
            <a:endParaRPr sz="1868"/>
          </a:p>
          <a:p>
            <a:pPr indent="-347273" lvl="0" marL="457200" rtl="0" algn="l">
              <a:spcBef>
                <a:spcPts val="0"/>
              </a:spcBef>
              <a:spcAft>
                <a:spcPts val="0"/>
              </a:spcAft>
              <a:buSzPts val="1869"/>
              <a:buChar char="●"/>
            </a:pPr>
            <a:r>
              <a:rPr lang="en" sz="1868"/>
              <a:t>https://github.com/HillidatulIlmi/EDA-and-Machine-Learning-Default-of-Credit-Card-Clients/blob/main/EDA_and_Machine_Learning_Default_of_Credit_Card_Clients.ipynb</a:t>
            </a:r>
            <a:endParaRPr sz="1868"/>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Github Link</a:t>
            </a:r>
            <a:endParaRPr/>
          </a:p>
        </p:txBody>
      </p:sp>
      <p:sp>
        <p:nvSpPr>
          <p:cNvPr id="262" name="Google Shape;26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00" u="sng">
                <a:solidFill>
                  <a:schemeClr val="accent1"/>
                </a:solidFill>
                <a:hlinkClick r:id="rId3">
                  <a:extLst>
                    <a:ext uri="{A12FA001-AC4F-418D-AE19-62706E023703}">
                      <ahyp:hlinkClr val="tx"/>
                    </a:ext>
                  </a:extLst>
                </a:hlinkClick>
              </a:rPr>
              <a:t>MS-AI/Pathway Machine Learning: Theory &amp; Hands-On Practice with Python Specialization/CSCA 5622: Introduction to Machine Learning: Supervised Learning /Module 7 - Final Project at main · kmadhu181090/MS-AI</a:t>
            </a:r>
            <a:endParaRPr>
              <a:solidFill>
                <a:schemeClr val="accen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7800"/>
              <a:t>THANK YOU</a:t>
            </a:r>
            <a:endParaRPr sz="7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